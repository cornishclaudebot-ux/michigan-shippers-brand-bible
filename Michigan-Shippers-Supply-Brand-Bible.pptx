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image" Target="../media/image-10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Image 1" descr="assets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506" y="1783080"/>
            <a:ext cx="677388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B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FAMILY-OWNED IN SPRING LAKE, MICHIGAN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0" y="331012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MICHIGAN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0" y="41148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FE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SHIPPERS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7B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U P P L 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0" y="5623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DD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Brand Bible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143000" y="6126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labels that help small brands get noticed.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by hand, by family, since 1959.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520440" y="7040880"/>
            <a:ext cx="731520" cy="45720"/>
          </a:xfrm>
          <a:prstGeom prst="roundRect">
            <a:avLst>
              <a:gd name="adj" fmla="val 40000"/>
            </a:avLst>
          </a:prstGeom>
          <a:solidFill>
            <a:srgbClr val="CDA85E"/>
          </a:solidFill>
          <a:ln/>
        </p:spPr>
      </p:sp>
      <p:sp>
        <p:nvSpPr>
          <p:cNvPr id="11" name="Text 7"/>
          <p:cNvSpPr/>
          <p:nvPr/>
        </p:nvSpPr>
        <p:spPr>
          <a:xfrm>
            <a:off x="0" y="9189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E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EDITION 01   ·   2026   ·   67 YEARS IN BUSINESS   ·   INTERNAL &amp; PARTNER 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6C7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/ The Company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215E9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49224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25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family business built on</a:t>
            </a:r>
            <a:endParaRPr lang="en-US" sz="25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25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people, not just presses.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Anyone can sell you a roll of labels. We help you build a </a:t>
            </a:r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</a:t>
            </a:r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we've done it for </a:t>
            </a:r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 years.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1318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3337560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one-liner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3666744"/>
            <a:ext cx="26563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family-owned custom label printer in Spring Lake, Michigan. We design and print the labels that turn small products into real brands, since 1959.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00500" y="2880360"/>
            <a:ext cx="31318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8244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38244" y="3337560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38244" y="3666744"/>
            <a:ext cx="26563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ink on a roll. A label that does its job: looks like the quality inside, passes the rules, and makes a maker proud to put it on the shelf.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636008"/>
            <a:ext cx="31318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818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5093208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serve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824" y="5422392"/>
            <a:ext cx="26563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Startups, makers, and growing brands across Michigan, Indiana, Ohio, and Illinois. Food, beverage, candy, wine, plus retail barcode needs.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00500" y="4636008"/>
            <a:ext cx="31318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8244" y="4818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38244" y="5093208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38244" y="5422392"/>
            <a:ext cx="26563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a small business too, so we get it. Small enough to care about your first run, experienced enough to handle your biggest order.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6720840"/>
            <a:ext cx="14859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903720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1959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0080" y="7434072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Family-owned since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08860" y="6720840"/>
            <a:ext cx="14859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08860" y="6903720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In-House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308860" y="7434072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team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77640" y="6720840"/>
            <a:ext cx="14859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6903720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977640" y="7434072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methods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46420" y="6720840"/>
            <a:ext cx="14859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46420" y="6903720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646420" y="7434072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served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6C7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Positioning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215E9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49224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25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label partner the big</a:t>
            </a:r>
            <a:endParaRPr lang="en-US" sz="2500" dirty="0"/>
          </a:p>
          <a:p>
            <a:pPr indent="0" marL="0">
              <a:lnSpc>
                <a:spcPts val="2450"/>
              </a:lnSpc>
              <a:buNone/>
            </a:pPr>
            <a:r>
              <a:rPr lang="en-US" sz="25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self-serve sites can't be.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crowded with cheap click-to-order sites and big printers that want big minimums. We win in the middle, where real brands get built.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1318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944368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" y="3291840"/>
            <a:ext cx="26563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affordable, experienced, regional label partner for small and growing brands. Real design help, flexible runs, and compliance know-how, without big-printer pricing or scary minimums.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00500" y="2743200"/>
            <a:ext cx="31318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8244" y="2944368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not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38244" y="3291840"/>
            <a:ext cx="26563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cheapest faceless upload-and-pray website, and we don't pretend to be. We compete on getting your label, and your brand, genuinely right.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95604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521208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55955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Family-owned and operated since 1959. A trust asset almost none of our competitors can claim.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71216" y="4754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495604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90672" y="521208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90672" y="555955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presses under one roof, so the short startup run and the long production run both get the right method.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02352" y="4754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495604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521208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Closeness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21808" y="555955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in-house design team and a dedicated specialist who learn your business. Regional and responsive.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6C7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The Logo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215E9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492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30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logo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isometric box, lined like a fresh print and grounded by a press-blue base. It reads as a package and a printed label at once. Keep it confident, square, and clear.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6492240" cy="1371600"/>
          </a:xfrm>
          <a:prstGeom prst="roundRect">
            <a:avLst>
              <a:gd name="adj" fmla="val 6000"/>
            </a:avLst>
          </a:prstGeom>
          <a:solidFill>
            <a:srgbClr val="E9EBEE"/>
          </a:solidFill>
          <a:ln w="12700">
            <a:solidFill>
              <a:srgbClr val="D7D3CA"/>
            </a:solidFill>
            <a:prstDash val="solid"/>
          </a:ln>
        </p:spPr>
      </p:sp>
      <p:pic>
        <p:nvPicPr>
          <p:cNvPr id="9" name="Image 0" descr="assets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9985" y="2560320"/>
            <a:ext cx="2532431" cy="914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3931920"/>
            <a:ext cx="2029968" cy="1554480"/>
          </a:xfrm>
          <a:prstGeom prst="roundRect">
            <a:avLst>
              <a:gd name="adj" fmla="val 5294"/>
            </a:avLst>
          </a:prstGeom>
          <a:solidFill>
            <a:srgbClr val="E9EBEE"/>
          </a:solidFill>
          <a:ln w="12700">
            <a:solidFill>
              <a:srgbClr val="D7D3CA"/>
            </a:solidFill>
            <a:prstDash val="solid"/>
          </a:ln>
        </p:spPr>
      </p:sp>
      <p:pic>
        <p:nvPicPr>
          <p:cNvPr id="11" name="Image 1" descr="assets/logo_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694" y="4146804"/>
            <a:ext cx="504740" cy="7772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51389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· on paper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871216" y="3931920"/>
            <a:ext cx="2029968" cy="1554480"/>
          </a:xfrm>
          <a:prstGeom prst="roundRect">
            <a:avLst>
              <a:gd name="adj" fmla="val 5294"/>
            </a:avLst>
          </a:prstGeom>
          <a:solidFill>
            <a:srgbClr val="1C2C3E"/>
          </a:solidFill>
          <a:ln w="12700">
            <a:solidFill>
              <a:srgbClr val="D7D3CA"/>
            </a:solidFill>
            <a:prstDash val="solid"/>
          </a:ln>
        </p:spPr>
      </p:sp>
      <p:pic>
        <p:nvPicPr>
          <p:cNvPr id="14" name="Image 2" descr="assets/logo_v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830" y="4146804"/>
            <a:ext cx="504740" cy="777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71216" y="51389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E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Knockout · on navy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102352" y="3931920"/>
            <a:ext cx="2029968" cy="1554480"/>
          </a:xfrm>
          <a:prstGeom prst="roundRect">
            <a:avLst>
              <a:gd name="adj" fmla="val 5294"/>
            </a:avLst>
          </a:prstGeom>
          <a:solidFill>
            <a:srgbClr val="E9EBEE"/>
          </a:solidFill>
          <a:ln w="12700">
            <a:solidFill>
              <a:srgbClr val="D7D3CA"/>
            </a:solidFill>
            <a:prstDash val="solid"/>
          </a:ln>
        </p:spPr>
      </p:sp>
      <p:pic>
        <p:nvPicPr>
          <p:cNvPr id="17" name="Image 3" descr="assets/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446" y="4146804"/>
            <a:ext cx="575779" cy="777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02352" y="51389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 · alone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640080" y="5715000"/>
            <a:ext cx="3145536" cy="1920240"/>
          </a:xfrm>
          <a:prstGeom prst="roundRect">
            <a:avLst>
              <a:gd name="adj" fmla="val 4286"/>
            </a:avLst>
          </a:prstGeom>
          <a:solidFill>
            <a:srgbClr val="F7FBFF"/>
          </a:solidFill>
          <a:ln w="12700">
            <a:solidFill>
              <a:srgbClr val="BCD6E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77824" y="589788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77824" y="6245352"/>
            <a:ext cx="2688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full lockup for first impressions.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knockout version on navy and dark grounds.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print lines and blue base intact.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room to breathe.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986784" y="5715000"/>
            <a:ext cx="3145536" cy="1920240"/>
          </a:xfrm>
          <a:prstGeom prst="roundRect">
            <a:avLst>
              <a:gd name="adj" fmla="val 4286"/>
            </a:avLst>
          </a:prstGeom>
          <a:solidFill>
            <a:srgbClr val="FDF6F5"/>
          </a:solidFill>
          <a:ln w="12700">
            <a:solidFill>
              <a:srgbClr val="E3B8B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224528" y="589788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4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224528" y="6245352"/>
            <a:ext cx="2688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Recolor the mark or swap the press blue.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Stretch, skew, rotate, or add shadows.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the wordmark in another typeface.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it on a busy photo.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6C7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Color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215E9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PALETTE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492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30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families. Heritage neutrals are the paper and ink. Press Blue is the signature, from the mark. White-Glove Gold is a rare premium accent for the managed program only.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Heritage neutrals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31720" y="2377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paper, ink, and the grounds we build 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F4F1EA"/>
          </a:solidFill>
          <a:ln w="12700">
            <a:solidFill>
              <a:srgbClr val="C9C5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0215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Heritage Cream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#F4F1EA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paper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04288" y="269748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E9EBEE"/>
          </a:solidFill>
          <a:ln w="12700">
            <a:solidFill>
              <a:srgbClr val="C9C5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350215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 Mist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04288" y="37033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#E9EBEE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04288" y="38862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panels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68496" y="269748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1C2C3E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8496" y="350215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Navy ★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68496" y="37033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#1C2C3E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68496" y="38862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Headlines / dark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32704" y="269748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6C7A85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32704" y="350215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Grey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32704" y="37033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#6C7A85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32704" y="38862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 text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 Blue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331720" y="44805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signature, from the logo's base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80060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2F7DC1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0527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Blue ★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58064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#2F7DC1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598932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accent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304288" y="480060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215E93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04288" y="560527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Press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04288" y="58064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#215E93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04288" y="598932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/ buttons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968496" y="480060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7BB6E6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68496" y="560527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Tint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968496" y="58064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#7BB6E6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968496" y="598932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on navy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32704" y="480060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222E39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704" y="560527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Ink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32704" y="58064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#222E39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32704" y="598932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008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White-Glove Gold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331720" y="65836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accent, used sparingly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" y="690372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CDA85E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77083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 Gold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0080" y="79095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#CDA85E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0080" y="80924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accent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304288" y="690372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ECD6A4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04288" y="77083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Gold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304288" y="79095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#ECD6A4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304288" y="80924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on navy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968496" y="690372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B58A3C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68496" y="77083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Gold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968496" y="79095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#B58A3C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968496" y="80924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&amp; shadow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632704" y="6903720"/>
            <a:ext cx="1499616" cy="749808"/>
          </a:xfrm>
          <a:prstGeom prst="roundRect">
            <a:avLst>
              <a:gd name="adj" fmla="val 7317"/>
            </a:avLst>
          </a:prstGeom>
          <a:solidFill>
            <a:srgbClr val="D7D3CA"/>
          </a:solidFill>
          <a:ln w="12700">
            <a:solidFill>
              <a:srgbClr val="C9C5B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32704" y="77083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Line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632704" y="79095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#D7D3CA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632704" y="80924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Hairlines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40080" y="8686800"/>
            <a:ext cx="6492240" cy="868680"/>
          </a:xfrm>
          <a:prstGeom prst="roundRect">
            <a:avLst>
              <a:gd name="adj" fmla="val 9474"/>
            </a:avLst>
          </a:prstGeom>
          <a:solidFill>
            <a:srgbClr val="FBF6EA"/>
          </a:solidFill>
          <a:ln w="12700">
            <a:solidFill>
              <a:srgbClr val="CDA8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6112" y="8796528"/>
            <a:ext cx="5980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is a guest, not a host.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it for the White-Glove program. Everyday materials lead with Press Blue on Heritage Cream, anchored by Brand Navy.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6C7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Type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215E9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 SYSTEM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492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30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typefaces do all the work, and they're built into every device. Serif for heritage and headlines, sans for clean, plain talk.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6492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514600"/>
            <a:ext cx="5907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· HEADLINES · THE WORDMARK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724912"/>
            <a:ext cx="5907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932688" y="3703320"/>
            <a:ext cx="5907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7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ABCDEFGHIJKLMNOPQRSTUVWXYZ · 0123456789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3968496"/>
            <a:ext cx="5907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Headlines, the wordmark, big statements, and pull quotes. It carries the 67 years. Navy, bold.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6492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663440"/>
            <a:ext cx="5907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· LABELS · EVERYTHING READABLE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4846320"/>
            <a:ext cx="5907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Helvetica / System Sans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32688" y="5779008"/>
            <a:ext cx="5907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ABCDEFGHIJKLMNOP abcdefghijklmnop · 0123456789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6035040"/>
            <a:ext cx="5907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copy, captions, forms, and the SUPPLY · EST. 1959 line. Weights 400 to 800. The voice talking plainly.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6629400"/>
            <a:ext cx="6492240" cy="868680"/>
          </a:xfrm>
          <a:prstGeom prst="roundRect">
            <a:avLst>
              <a:gd name="adj" fmla="val 9474"/>
            </a:avLst>
          </a:prstGeom>
          <a:solidFill>
            <a:srgbClr val="EEF4FA"/>
          </a:solidFill>
          <a:ln w="12700">
            <a:solidFill>
              <a:srgbClr val="BCD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6766560"/>
            <a:ext cx="598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 above all: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mix in random fonts.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Georgia and the system sans cover every job.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6C7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Voice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215E9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TALK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492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30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voice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talk like a </a:t>
            </a:r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neighbor</a:t>
            </a:r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who happens to be the </a:t>
            </a:r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</a:t>
            </a:r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warm, plain, and never pushy.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1318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807208"/>
            <a:ext cx="2619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3118104"/>
            <a:ext cx="26197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· Plain-spoken · Reassuring · Proud of the work · Helpful, not salesy · Never corporate.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00500" y="2606040"/>
            <a:ext cx="31318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6532" y="2807208"/>
            <a:ext cx="2619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MOVES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6532" y="3118104"/>
            <a:ext cx="26197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flexo vs. digital in human terms · Lead with heritage · Reassure on compliance · Tasteful ALL-CAPS for emphasis.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90288"/>
            <a:ext cx="31318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791456"/>
            <a:ext cx="2619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6112" y="5102352"/>
            <a:ext cx="26197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“We're a small business too, so we get it.”  “Small enough to care about your first run.”  “Never an upsell.”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00500" y="4590288"/>
            <a:ext cx="31318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6532" y="4791456"/>
            <a:ext cx="26197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SAY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56532" y="5102352"/>
            <a:ext cx="26197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hype, no jargon, no pressure. We don't call ourselves cheap, we say fair. We never make a maker feel small for ordering small.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6766560"/>
            <a:ext cx="6492240" cy="868680"/>
          </a:xfrm>
          <a:prstGeom prst="roundRect">
            <a:avLst>
              <a:gd name="adj" fmla="val 9474"/>
            </a:avLst>
          </a:prstGeom>
          <a:solidFill>
            <a:srgbClr val="EEF4FA"/>
          </a:solidFill>
          <a:ln w="12700">
            <a:solidFill>
              <a:srgbClr val="BCD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6903720"/>
            <a:ext cx="598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 does three jobs: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attention on a crowded shelf, meet the rules, and build the brand. Sell the job, not the ink.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6C7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Capabilities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215E9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PRINT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4922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25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for every product you make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and printed in house, on the right press for the job. From a first short run of candy labels to long production rolls and the foil lids most printers won't touch.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042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50592"/>
            <a:ext cx="163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labels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761488"/>
            <a:ext cx="163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Shelf-ready labels that look like the quality inside.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65120" y="2286000"/>
            <a:ext cx="2042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6288" y="2450592"/>
            <a:ext cx="163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Wine, beer &amp; beverage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6288" y="2761488"/>
            <a:ext cx="163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bottle and can labels, batch after batch.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90160" y="2286000"/>
            <a:ext cx="2042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1328" y="2450592"/>
            <a:ext cx="163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91328" y="2761488"/>
            <a:ext cx="163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niche we've printed for years.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2042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666744"/>
            <a:ext cx="163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packaging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977640"/>
            <a:ext cx="163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right for FDA and regulatory compliance.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65120" y="3502152"/>
            <a:ext cx="2042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6288" y="3666744"/>
            <a:ext cx="163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Foil lids &amp; tin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6288" y="3977640"/>
            <a:ext cx="163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Keurig-compatible foil lids, plus metal and tin.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90160" y="3502152"/>
            <a:ext cx="2042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91328" y="3666744"/>
            <a:ext cx="163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Barcode &amp; shipping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91328" y="3977640"/>
            <a:ext cx="163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and warehouse ID, with your brand on it.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846320"/>
            <a:ext cx="3131820" cy="1554480"/>
          </a:xfrm>
          <a:prstGeom prst="roundRect">
            <a:avLst>
              <a:gd name="adj" fmla="val 5294"/>
            </a:avLst>
          </a:prstGeom>
          <a:solidFill>
            <a:srgbClr val="E9EBEE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047488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RUNS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96112" y="5285232"/>
            <a:ext cx="2619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Flexographic press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5650992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and consistent for larger production runs. The workhorse for growing and established brands.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00500" y="4846320"/>
            <a:ext cx="3131820" cy="1554480"/>
          </a:xfrm>
          <a:prstGeom prst="roundRect">
            <a:avLst>
              <a:gd name="adj" fmla="val 5294"/>
            </a:avLst>
          </a:prstGeom>
          <a:solidFill>
            <a:srgbClr val="E9EBEE"/>
          </a:solidFill>
          <a:ln w="12700">
            <a:solidFill>
              <a:srgbClr val="D7D3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6532" y="5047488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RUNS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56532" y="5285232"/>
            <a:ext cx="2619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press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56532" y="5650992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turns, variable data, and friendly minimums for startups and quick jobs. No big upfront commitment.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6629400"/>
            <a:ext cx="6492240" cy="868680"/>
          </a:xfrm>
          <a:prstGeom prst="roundRect">
            <a:avLst>
              <a:gd name="adj" fmla="val 9474"/>
            </a:avLst>
          </a:prstGeom>
          <a:solidFill>
            <a:srgbClr val="EEF4FA"/>
          </a:solidFill>
          <a:ln w="12700">
            <a:solidFill>
              <a:srgbClr val="BCD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6766560"/>
            <a:ext cx="598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give every customer the right method for the job,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an upsell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plus an in-house design team that can start from a sketch, an idea, or nothing at all.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CDA8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White-Glove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ECD6A4"/>
          </a:solidFill>
          <a:ln/>
        </p:spPr>
      </p:sp>
      <p:sp>
        <p:nvSpPr>
          <p:cNvPr id="5" name="Text 2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CD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PREMIUM PROGRAM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24128"/>
            <a:ext cx="649224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44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wait. Never compromise.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BD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flagship managed program is the one part of the brand that wears gold. White-glove from day one, the partnership the big self-serve printers can't offer.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6492240" cy="5486400"/>
          </a:xfrm>
          <a:prstGeom prst="roundRect">
            <a:avLst>
              <a:gd name="adj" fmla="val 1500"/>
            </a:avLst>
          </a:prstGeom>
          <a:solidFill>
            <a:srgbClr val="1B2A3B"/>
          </a:solidFill>
          <a:ln w="19050">
            <a:solidFill>
              <a:srgbClr val="CDA8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2697480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2A2A1C"/>
          </a:solidFill>
          <a:ln w="12700">
            <a:solidFill>
              <a:srgbClr val="7A63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706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CD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MANAGED INVENTORY &amp; JUST-IN-TIME PRINTING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60120" y="3200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White-glove label management, built around one business, yours.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0120" y="40690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5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a day's or a week's supply on the shelf. We hold the rest and print to real demand, in real time, so a customer frees up cash and space, skips big upfront runs, and never runs out.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60120" y="5029200"/>
            <a:ext cx="2825496" cy="1234440"/>
          </a:xfrm>
          <a:prstGeom prst="roundRect">
            <a:avLst>
              <a:gd name="adj" fmla="val 5185"/>
            </a:avLst>
          </a:prstGeom>
          <a:solidFill>
            <a:srgbClr val="16222E"/>
          </a:solidFill>
          <a:ln w="12700">
            <a:solidFill>
              <a:srgbClr val="3244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1288" y="5193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D6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specialist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1288" y="55046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point of contact who knows your products, timing, and standards.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86784" y="5029200"/>
            <a:ext cx="2825496" cy="1234440"/>
          </a:xfrm>
          <a:prstGeom prst="roundRect">
            <a:avLst>
              <a:gd name="adj" fmla="val 5185"/>
            </a:avLst>
          </a:prstGeom>
          <a:solidFill>
            <a:srgbClr val="16222E"/>
          </a:solidFill>
          <a:ln w="12700">
            <a:solidFill>
              <a:srgbClr val="3244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87952" y="5193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D6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downtime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87952" y="55046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is held and ready, so production never pauses waiting on labels.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60120" y="6428232"/>
            <a:ext cx="2825496" cy="1234440"/>
          </a:xfrm>
          <a:prstGeom prst="roundRect">
            <a:avLst>
              <a:gd name="adj" fmla="val 5185"/>
            </a:avLst>
          </a:prstGeom>
          <a:solidFill>
            <a:srgbClr val="16222E"/>
          </a:solidFill>
          <a:ln w="12700">
            <a:solidFill>
              <a:srgbClr val="3244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61288" y="6592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D6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Printed on demand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61288" y="6903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 in real time to actual usage. No overruns, no dead stock.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986784" y="6428232"/>
            <a:ext cx="2825496" cy="1234440"/>
          </a:xfrm>
          <a:prstGeom prst="roundRect">
            <a:avLst>
              <a:gd name="adj" fmla="val 5185"/>
            </a:avLst>
          </a:prstGeom>
          <a:solidFill>
            <a:srgbClr val="16222E"/>
          </a:solidFill>
          <a:ln w="12700">
            <a:solidFill>
              <a:srgbClr val="3244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87952" y="6592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D6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compromise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187952" y="6903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custom quality on every batch, exactly to spec, every time.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80924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CD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rule: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C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and white-glove language belong to this program only. Used everywhere, it would mean nothing. Used here, it signals the highest level of attention, with zero wasted downtime, ever.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6C7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Proof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215E9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WE PRINT FOR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4922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25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seen our work on the shelf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of the brands that trust us to print their single-serve coffee and cocoa lids. When we show proof, we show the real product, never stock mockups.</a:t>
            </a:r>
            <a:endParaRPr lang="en-US" sz="1200" dirty="0"/>
          </a:p>
        </p:txBody>
      </p:sp>
      <p:pic>
        <p:nvPicPr>
          <p:cNvPr id="8" name="Image 0" descr="assets/lid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" y="2286000"/>
            <a:ext cx="1508760" cy="150876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84962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Crazy Cups · Chocolate Raspberry Truffle</a:t>
            </a:r>
            <a:endParaRPr lang="en-US" sz="900" dirty="0"/>
          </a:p>
        </p:txBody>
      </p:sp>
      <p:pic>
        <p:nvPicPr>
          <p:cNvPr id="10" name="Image 1" descr="assets/lid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2286000"/>
            <a:ext cx="1508760" cy="1508760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19400" y="384962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Mountain Coffee · Lake &amp; Lodge</a:t>
            </a:r>
            <a:endParaRPr lang="en-US" sz="900" dirty="0"/>
          </a:p>
        </p:txBody>
      </p:sp>
      <p:pic>
        <p:nvPicPr>
          <p:cNvPr id="12" name="Image 2" descr="assets/lid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580" y="2286000"/>
            <a:ext cx="1508760" cy="1508760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90160" y="384962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 Bean · Carnival Hot Cocoa</a:t>
            </a:r>
            <a:endParaRPr lang="en-US" sz="900" dirty="0"/>
          </a:p>
        </p:txBody>
      </p:sp>
      <p:pic>
        <p:nvPicPr>
          <p:cNvPr id="14" name="Image 3" descr="assets/lid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" y="4434840"/>
            <a:ext cx="1508760" cy="1508760"/>
          </a:xfrm>
          <a:prstGeom prst="ellipse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599846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 Gusto · Chocolate con Leche</a:t>
            </a:r>
            <a:endParaRPr lang="en-US" sz="900" dirty="0"/>
          </a:p>
        </p:txBody>
      </p:sp>
      <p:pic>
        <p:nvPicPr>
          <p:cNvPr id="16" name="Image 4" descr="assets/lid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4434840"/>
            <a:ext cx="1508760" cy="1508760"/>
          </a:xfrm>
          <a:prstGeom prst="ellipse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819400" y="599846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Crazy Cups · Island Rum Coconut</a:t>
            </a:r>
            <a:endParaRPr lang="en-US" sz="900" dirty="0"/>
          </a:p>
        </p:txBody>
      </p:sp>
      <p:pic>
        <p:nvPicPr>
          <p:cNvPr id="18" name="Image 5" descr="assets/lid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2580" y="4434840"/>
            <a:ext cx="1508760" cy="1508760"/>
          </a:xfrm>
          <a:prstGeom prst="ellipse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90160" y="599846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Roasty Buds · Single-Serve Coffee</a:t>
            </a:r>
            <a:endParaRPr lang="en-US" sz="900" dirty="0"/>
          </a:p>
        </p:txBody>
      </p:sp>
      <p:pic>
        <p:nvPicPr>
          <p:cNvPr id="20" name="Image 6" descr="assets/press.jpg">    </p:cNvPr>
          <p:cNvPicPr>
            <a:picLocks noChangeAspect="1"/>
          </p:cNvPicPr>
          <p:nvPr/>
        </p:nvPicPr>
        <p:blipFill>
          <a:blip r:embed="rId7"/>
          <a:srcRect l="0" r="0" t="36364" b="-36364"/>
          <a:stretch/>
        </p:blipFill>
        <p:spPr>
          <a:xfrm>
            <a:off x="640080" y="6995160"/>
            <a:ext cx="6492240" cy="1508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40080" y="85953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presses, one standard: excellent. Short runs digital, long runs flexographic.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6C7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Standards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215E9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15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6492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3000" b="1" dirty="0">
                <a:solidFill>
                  <a:srgbClr val="1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&amp; don't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shortlist that keeps every quote, label, web page, and conversation unmistakably Michigan Shippers Supply.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131820" cy="4937760"/>
          </a:xfrm>
          <a:prstGeom prst="roundRect">
            <a:avLst>
              <a:gd name="adj" fmla="val 2628"/>
            </a:avLst>
          </a:prstGeom>
          <a:solidFill>
            <a:srgbClr val="F7FBFF"/>
          </a:solidFill>
          <a:ln w="12700">
            <a:solidFill>
              <a:srgbClr val="BCD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542032"/>
            <a:ext cx="2546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5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ALWAYS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3108960"/>
            <a:ext cx="25466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heritage: family-owned since 1959.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Blue on Heritage Cream, anchored by navy.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for headlines, system sans for the rest.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plainly and reassure on compliance.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real printed product as proof.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right press, never an upsell.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gold for the White-Glove program.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00500" y="2286000"/>
            <a:ext cx="3131820" cy="4937760"/>
          </a:xfrm>
          <a:prstGeom prst="roundRect">
            <a:avLst>
              <a:gd name="adj" fmla="val 2628"/>
            </a:avLst>
          </a:prstGeom>
          <a:solidFill>
            <a:srgbClr val="FDF6F5"/>
          </a:solidFill>
          <a:ln w="12700">
            <a:solidFill>
              <a:srgbClr val="E3B8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3108" y="2542032"/>
            <a:ext cx="2546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4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  NEVER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93108" y="3108960"/>
            <a:ext cx="25466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corporate, hypey, or high-pressure.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Recolor, stretch, or rebuild the logo.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 on being the cheapest click.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gold or white-glove language off-program.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in random fonts or stock mockups.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inconsistent name, address, or phone.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22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maker feel small for ordering small.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74066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C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name: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6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public/marketing name is Michigan Shippers Supply (no apostrophe), matching the logo and domain. The legal name, Michigan Shippers' Supply, Inc., keeps its apostrophe for contracts.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624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spc="100" kern="0" dirty="0">
                <a:solidFill>
                  <a:srgbClr val="7BB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Contact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790956"/>
            <a:ext cx="237744" cy="23774"/>
          </a:xfrm>
          <a:prstGeom prst="rect">
            <a:avLst/>
          </a:prstGeom>
          <a:solidFill>
            <a:srgbClr val="7BB6E6"/>
          </a:solidFill>
          <a:ln/>
        </p:spPr>
      </p:sp>
      <p:sp>
        <p:nvSpPr>
          <p:cNvPr id="5" name="Text 2"/>
          <p:cNvSpPr/>
          <p:nvPr/>
        </p:nvSpPr>
        <p:spPr>
          <a:xfrm>
            <a:off x="969264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B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ESSENTIALS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24128"/>
            <a:ext cx="649224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44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company, one set of facts.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2C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exactly as written, on the website, in listings, on every label and invoice. Consistency is a brand asset.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3131820" cy="1371600"/>
          </a:xfrm>
          <a:prstGeom prst="roundRect">
            <a:avLst>
              <a:gd name="adj" fmla="val 6000"/>
            </a:avLst>
          </a:prstGeom>
          <a:solidFill>
            <a:srgbClr val="21344A"/>
          </a:solidFill>
          <a:ln w="12700">
            <a:solidFill>
              <a:srgbClr val="3349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907792"/>
            <a:ext cx="258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291840"/>
            <a:ext cx="2583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B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sales@michiganshippers.com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00500" y="2651760"/>
            <a:ext cx="3131820" cy="1371600"/>
          </a:xfrm>
          <a:prstGeom prst="roundRect">
            <a:avLst>
              <a:gd name="adj" fmla="val 6000"/>
            </a:avLst>
          </a:prstGeom>
          <a:solidFill>
            <a:srgbClr val="21344A"/>
          </a:solidFill>
          <a:ln w="12700">
            <a:solidFill>
              <a:srgbClr val="3349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74820" y="2907792"/>
            <a:ext cx="258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74820" y="3291840"/>
            <a:ext cx="2583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B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(616) 935-6680  ·  Toll-free (800) 442-4639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251960"/>
            <a:ext cx="3131820" cy="1371600"/>
          </a:xfrm>
          <a:prstGeom prst="roundRect">
            <a:avLst>
              <a:gd name="adj" fmla="val 6000"/>
            </a:avLst>
          </a:prstGeom>
          <a:solidFill>
            <a:srgbClr val="21344A"/>
          </a:solidFill>
          <a:ln w="12700">
            <a:solidFill>
              <a:srgbClr val="3349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507992"/>
            <a:ext cx="258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 / Mail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892040"/>
            <a:ext cx="2583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B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17369 Taft Rd, Spring Lake, MI 49456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00500" y="4251960"/>
            <a:ext cx="3131820" cy="1371600"/>
          </a:xfrm>
          <a:prstGeom prst="roundRect">
            <a:avLst>
              <a:gd name="adj" fmla="val 6000"/>
            </a:avLst>
          </a:prstGeom>
          <a:solidFill>
            <a:srgbClr val="21344A"/>
          </a:solidFill>
          <a:ln w="12700">
            <a:solidFill>
              <a:srgbClr val="3349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74820" y="4507992"/>
            <a:ext cx="258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274820" y="4892040"/>
            <a:ext cx="2583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B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to Friday, 9:00 AM to 5:00 PM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Image 1" descr="assets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340" y="2871216"/>
            <a:ext cx="487719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023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enough to care.
</a:t>
            </a:r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7BB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Experienced enough</a:t>
            </a:r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deliver.</a:t>
            </a:r>
            <a:endParaRPr lang="en-US" sz="3800" dirty="0"/>
          </a:p>
        </p:txBody>
      </p:sp>
      <p:sp>
        <p:nvSpPr>
          <p:cNvPr id="5" name="Shape 1"/>
          <p:cNvSpPr/>
          <p:nvPr/>
        </p:nvSpPr>
        <p:spPr>
          <a:xfrm>
            <a:off x="3566160" y="5852160"/>
            <a:ext cx="640080" cy="41148"/>
          </a:xfrm>
          <a:prstGeom prst="roundRect">
            <a:avLst>
              <a:gd name="adj" fmla="val 44444"/>
            </a:avLst>
          </a:prstGeom>
          <a:solidFill>
            <a:srgbClr val="CDA85E"/>
          </a:solidFill>
          <a:ln/>
        </p:spPr>
      </p:sp>
      <p:sp>
        <p:nvSpPr>
          <p:cNvPr id="6" name="Text 2"/>
          <p:cNvSpPr/>
          <p:nvPr/>
        </p:nvSpPr>
        <p:spPr>
          <a:xfrm>
            <a:off x="0" y="6126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50" spc="200" kern="0" dirty="0">
                <a:solidFill>
                  <a:srgbClr val="8E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MICHIGAN SHIPPERS SUPPLY  ·  SPRING LAKE, MICHIGAN</a:t>
            </a:r>
            <a:endParaRPr lang="en-US" sz="9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950" spc="200" kern="0" dirty="0">
                <a:solidFill>
                  <a:srgbClr val="8E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LABEL PRINTING SINCE 1959  ·  EDITION 01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Michigan Shippers Supply Brand Bible</dc:title>
  <dc:subject>PptxGenJS Presentation</dc:subject>
  <dc:creator>Michigan Shippers Supply</dc:creator>
  <cp:lastModifiedBy>Michigan Shippers Supply</cp:lastModifiedBy>
  <cp:revision>1</cp:revision>
  <dcterms:created xsi:type="dcterms:W3CDTF">2026-06-20T06:10:30Z</dcterms:created>
  <dcterms:modified xsi:type="dcterms:W3CDTF">2026-06-20T06:10:30Z</dcterms:modified>
</cp:coreProperties>
</file>